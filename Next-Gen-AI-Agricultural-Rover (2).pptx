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embeddedFontLst>
    <p:embeddedFont>
      <p:font typeface="Onest" pitchFamily="34" charset="0"/>
      <p:regular r:id="rId15"/>
    </p:embeddedFont>
    <p:embeddedFont>
      <p:font typeface="Onest" pitchFamily="34" charset="-122"/>
      <p:regular r:id="rId16"/>
    </p:embeddedFont>
    <p:embeddedFont>
      <p:font typeface="Onest" pitchFamily="34" charset="-120"/>
      <p:regular r:id="rId17"/>
    </p:embeddedFont>
    <p:embeddedFont>
      <p:font typeface="Familjen Grotesk Bold" pitchFamily="34" charset="0"/>
      <p:bold r:id="rId18"/>
    </p:embeddedFont>
    <p:embeddedFont>
      <p:font typeface="Familjen Grotesk Bold" pitchFamily="34" charset="-122"/>
      <p:bold r:id="rId19"/>
    </p:embeddedFont>
    <p:embeddedFont>
      <p:font typeface="Familjen Grotesk Bold" pitchFamily="34" charset="-120"/>
      <p:bold r:id="rId20"/>
    </p:embeddedFont>
    <p:embeddedFont>
      <p:font typeface="Onest SemiBold" pitchFamily="34" charset="0"/>
      <p:bold r:id="rId21"/>
    </p:embeddedFont>
    <p:embeddedFont>
      <p:font typeface="Onest SemiBold" pitchFamily="34" charset="-122"/>
      <p:bold r:id="rId22"/>
    </p:embeddedFont>
    <p:embeddedFont>
      <p:font typeface="Onest SemiBold" pitchFamily="34" charset="-120"/>
      <p:bold r:id="rId23"/>
    </p:embeddedFont>
    <p:embeddedFont>
      <p:font typeface="Onest Bold" pitchFamily="34" charset="0"/>
      <p:bold r:id="rId24"/>
    </p:embeddedFont>
    <p:embeddedFont>
      <p:font typeface="Onest Bold" pitchFamily="34" charset="-122"/>
      <p:bold r:id="rId25"/>
    </p:embeddedFont>
    <p:embeddedFont>
      <p:font typeface="Onest Bold" pitchFamily="34" charset="-120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6.fntdata"/><Relationship Id="rId3" Type="http://schemas.openxmlformats.org/officeDocument/2006/relationships/slide" Target="slides/slide1.xml"/><Relationship Id="rId29" Type="http://schemas.openxmlformats.org/officeDocument/2006/relationships/font" Target="fonts/font15.fntdata"/><Relationship Id="rId28" Type="http://schemas.openxmlformats.org/officeDocument/2006/relationships/font" Target="fonts/font14.fntdata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27523"/>
            <a:ext cx="5689458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144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AI AGRICULTURE · FIELD SYSTEMS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2505501"/>
            <a:ext cx="5689458" cy="1393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Next-Gen AI</a:t>
            </a:r>
            <a:endParaRPr lang="en-US" sz="56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Agricultural Rover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09585" y="4110930"/>
            <a:ext cx="711182" cy="31651"/>
          </a:xfrm>
          <a:prstGeom prst="roundRect">
            <a:avLst>
              <a:gd name="adj" fmla="val 49998"/>
            </a:avLst>
          </a:prstGeom>
          <a:solidFill>
            <a:srgbClr val="9BD33A"/>
          </a:solidFill>
        </p:spPr>
      </p:sp>
      <p:sp>
        <p:nvSpPr>
          <p:cNvPr id="5" name="Text 3"/>
          <p:cNvSpPr/>
          <p:nvPr/>
        </p:nvSpPr>
        <p:spPr>
          <a:xfrm>
            <a:off x="609585" y="4369693"/>
            <a:ext cx="5689458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Autonomous edge vision, soil sensing, and smart irrigation for more precise small-scale farming.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57999"/>
            <a:ext cx="2323248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 ·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Small farms lose </a:t>
            </a:r>
            <a:r>
              <a:rPr lang="en-US" sz="3400" b="1" kern="100" spc="-85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time, water, and yield</a:t>
            </a: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before they can react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830784"/>
            <a:ext cx="711182" cy="31651"/>
          </a:xfrm>
          <a:prstGeom prst="roundRect">
            <a:avLst>
              <a:gd name="adj" fmla="val 49998"/>
            </a:avLst>
          </a:prstGeom>
          <a:solidFill>
            <a:srgbClr val="9BD33A"/>
          </a:solidFill>
        </p:spPr>
      </p:sp>
      <p:sp>
        <p:nvSpPr>
          <p:cNvPr id="5" name="Text 3"/>
          <p:cNvSpPr/>
          <p:nvPr/>
        </p:nvSpPr>
        <p:spPr>
          <a:xfrm>
            <a:off x="609585" y="2089547"/>
            <a:ext cx="10972526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Resource waste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2657177"/>
            <a:ext cx="10972526" cy="28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Over-irrigation and improper fertilizer application degrade soil and waste water.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3628231"/>
            <a:ext cx="10972526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Late disease detection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585" y="4195862"/>
            <a:ext cx="10972526" cy="28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Manual inspection delays diagnosis and increases crop-loss risk.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5166916"/>
            <a:ext cx="10972526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Labor intensity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9585" y="5734546"/>
            <a:ext cx="10972526" cy="28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Repeated soil monitoring across field areas is slow and inefficient.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5" y="3393281"/>
            <a:ext cx="10972526" cy="12700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2" name="Shape 10"/>
          <p:cNvSpPr/>
          <p:nvPr/>
        </p:nvSpPr>
        <p:spPr>
          <a:xfrm>
            <a:off x="609585" y="4931966"/>
            <a:ext cx="10972526" cy="12700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3" name="Rectangle 12"/>
          <p:cNvSpPr/>
          <p:nvPr/>
        </p:nvSpPr>
        <p:spPr>
          <a:xfrm>
            <a:off x="11018520" y="6568440"/>
            <a:ext cx="1137920" cy="238125"/>
          </a:xfrm>
          <a:prstGeom prst="rect">
            <a:avLst/>
          </a:prstGeom>
          <a:solidFill>
            <a:srgbClr val="0D174F"/>
          </a:solidFill>
          <a:ln>
            <a:solidFill>
              <a:srgbClr val="0D17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57999"/>
            <a:ext cx="2197343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 · THE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One mobile platform turns </a:t>
            </a:r>
            <a:r>
              <a:rPr lang="en-US" sz="3400" b="1" kern="100" spc="-85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field signals into 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625997"/>
            <a:ext cx="10972526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closed loop: sense the field, interpret it locally, then respond where the crop needs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810000"/>
            <a:ext cx="2844729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Monitor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4309070"/>
            <a:ext cx="2844729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multi-sensor rover collects live soil and crop telemetry.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73483" y="3810000"/>
            <a:ext cx="2844729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3483" y="4309070"/>
            <a:ext cx="2844729" cy="8411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Edge computer vision assesses crop health and identifies disease on-device.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7381" y="3810000"/>
            <a:ext cx="2844729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37381" y="4309070"/>
            <a:ext cx="2844729" cy="8411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Targeted irrigation triggers when real-time soil moisture crosses a threshold.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57548" y="3200400"/>
            <a:ext cx="12700" cy="3657600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2" name="Shape 10"/>
          <p:cNvSpPr/>
          <p:nvPr/>
        </p:nvSpPr>
        <p:spPr>
          <a:xfrm>
            <a:off x="8121447" y="3200400"/>
            <a:ext cx="12700" cy="3657600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3" name="Rectangle 12"/>
          <p:cNvSpPr/>
          <p:nvPr/>
        </p:nvSpPr>
        <p:spPr>
          <a:xfrm>
            <a:off x="11018520" y="6568440"/>
            <a:ext cx="1137920" cy="238125"/>
          </a:xfrm>
          <a:prstGeom prst="rect">
            <a:avLst/>
          </a:prstGeom>
          <a:solidFill>
            <a:srgbClr val="0D174F"/>
          </a:solidFill>
          <a:ln>
            <a:solidFill>
              <a:srgbClr val="0D17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57999"/>
            <a:ext cx="2062210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 · THE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 modular stack keeps the rover </a:t>
            </a:r>
            <a:r>
              <a:rPr lang="en-US" sz="3400" b="1" kern="100" spc="-85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affordable and adaptable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09585" y="1705372"/>
          <a:ext cx="10972526" cy="4760594"/>
        </p:xfrm>
        <a:graphic>
          <a:graphicData uri="http://schemas.openxmlformats.org/drawingml/2006/table">
            <a:tbl>
              <a:tblPr/>
              <a:tblGrid>
                <a:gridCol w="2419786"/>
                <a:gridCol w="2759006"/>
                <a:gridCol w="4574465"/>
                <a:gridCol w="304792"/>
                <a:gridCol w="304792"/>
                <a:gridCol w="304792"/>
                <a:gridCol w="304892"/>
              </a:tblGrid>
              <a:tr h="521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Component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Part Selected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Functional Role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Vision + AI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XIAO ESP32S3 Sense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Vision and AI processing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Drive + control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ESP8266 plus servos and relay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Motor drive, camera gimbal, and pump control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Soil telemetry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Capacitive soil moisture sensor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Analog soil moisture telemetry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Safety monitoring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Gas/flame and motion sensors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Safety monitoring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Status display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SSD1306 OLED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Status and telemetry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93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Power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2S 18650 pack plus BMS and buck converter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Regulated 5V high-current dual-rail supply</a:t>
                      </a: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Onest" pitchFamily="34" charset="0"/>
                        <a:ea typeface="Onest" pitchFamily="34" charset="0"/>
                        <a:cs typeface="Onest" pitchFamily="34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1018520" y="6568440"/>
            <a:ext cx="1137920" cy="238125"/>
          </a:xfrm>
          <a:prstGeom prst="rect">
            <a:avLst/>
          </a:prstGeom>
          <a:solidFill>
            <a:srgbClr val="0D174F"/>
          </a:solidFill>
          <a:ln>
            <a:solidFill>
              <a:srgbClr val="0D17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1625183"/>
            <a:ext cx="2957240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 · EDGE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2098085"/>
            <a:ext cx="5516821" cy="880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Edge intelligence makes </a:t>
            </a:r>
            <a:r>
              <a:rPr lang="en-US" sz="3400" b="1" kern="100" spc="-85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every decision local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3238401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</p:spPr>
      </p:sp>
      <p:sp>
        <p:nvSpPr>
          <p:cNvPr id="5" name="Text 3"/>
          <p:cNvSpPr/>
          <p:nvPr/>
        </p:nvSpPr>
        <p:spPr>
          <a:xfrm>
            <a:off x="609585" y="3497163"/>
            <a:ext cx="5516821" cy="17839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On-device inferencing: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vision models run directly on the XIAO ESP32S3 Sense without active internet.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Low power and cost: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high-performance vision in a compact, lower-cost architecture.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Low latency: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immediate decisions support spot spraying and crop targeting.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684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57999"/>
            <a:ext cx="2152894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05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The prototype already connects </a:t>
            </a:r>
            <a:r>
              <a:rPr lang="en-US" sz="3400" b="1" kern="100" spc="-85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sensing, power, and vision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448197"/>
            <a:ext cx="5486263" cy="1585615"/>
          </a:xfrm>
          <a:prstGeom prst="roundRect">
            <a:avLst>
              <a:gd name="adj" fmla="val 7689"/>
            </a:avLst>
          </a:prstGeom>
          <a:solidFill>
            <a:srgbClr val="152060"/>
          </a:solidFill>
        </p:spPr>
      </p:sp>
      <p:sp>
        <p:nvSpPr>
          <p:cNvPr id="5" name="Text 3"/>
          <p:cNvSpPr/>
          <p:nvPr/>
        </p:nvSpPr>
        <p:spPr>
          <a:xfrm>
            <a:off x="838179" y="1676797"/>
            <a:ext cx="502907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Hardware integration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8179" y="2244427"/>
            <a:ext cx="5257668" cy="280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Complete hardware integration built and field-tested.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48" y="1448197"/>
            <a:ext cx="5486263" cy="1585615"/>
          </a:xfrm>
          <a:prstGeom prst="roundRect">
            <a:avLst>
              <a:gd name="adj" fmla="val 7689"/>
            </a:avLst>
          </a:prstGeom>
          <a:solidFill>
            <a:srgbClr val="152060"/>
          </a:solidFill>
        </p:spPr>
      </p:sp>
      <p:sp>
        <p:nvSpPr>
          <p:cNvPr id="8" name="Text 6"/>
          <p:cNvSpPr/>
          <p:nvPr/>
        </p:nvSpPr>
        <p:spPr>
          <a:xfrm>
            <a:off x="6324442" y="1676797"/>
            <a:ext cx="502907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Safe power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24442" y="2244427"/>
            <a:ext cx="5029074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Safe 2S Li-ion integration with BMS and buck converter for servo stability.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033812"/>
            <a:ext cx="5486263" cy="1585615"/>
          </a:xfrm>
          <a:prstGeom prst="roundRect">
            <a:avLst>
              <a:gd name="adj" fmla="val 7689"/>
            </a:avLst>
          </a:prstGeom>
          <a:solidFill>
            <a:srgbClr val="152060"/>
          </a:solidFill>
        </p:spPr>
      </p:sp>
      <p:sp>
        <p:nvSpPr>
          <p:cNvPr id="11" name="Text 9"/>
          <p:cNvSpPr/>
          <p:nvPr/>
        </p:nvSpPr>
        <p:spPr>
          <a:xfrm>
            <a:off x="838179" y="3262412"/>
            <a:ext cx="502907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Live telemetry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8179" y="3830042"/>
            <a:ext cx="5029074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Multi-sensor telemetry streaming to display and control outputs.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48" y="3033812"/>
            <a:ext cx="5486263" cy="1585615"/>
          </a:xfrm>
          <a:prstGeom prst="roundRect">
            <a:avLst>
              <a:gd name="adj" fmla="val 7689"/>
            </a:avLst>
          </a:prstGeom>
          <a:solidFill>
            <a:srgbClr val="152060"/>
          </a:solidFill>
        </p:spPr>
      </p:sp>
      <p:sp>
        <p:nvSpPr>
          <p:cNvPr id="14" name="Text 12"/>
          <p:cNvSpPr/>
          <p:nvPr/>
        </p:nvSpPr>
        <p:spPr>
          <a:xfrm>
            <a:off x="6324442" y="3262412"/>
            <a:ext cx="502907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Local vision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4442" y="3830042"/>
            <a:ext cx="5029074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Active image capture and local inferencing through the ESP32S3 Sense camera.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9498" y="1448197"/>
            <a:ext cx="12700" cy="1585615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7" name="Shape 15"/>
          <p:cNvSpPr/>
          <p:nvPr/>
        </p:nvSpPr>
        <p:spPr>
          <a:xfrm>
            <a:off x="609585" y="3027462"/>
            <a:ext cx="5486263" cy="12700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8" name="Shape 16"/>
          <p:cNvSpPr/>
          <p:nvPr/>
        </p:nvSpPr>
        <p:spPr>
          <a:xfrm>
            <a:off x="6089498" y="3033812"/>
            <a:ext cx="12700" cy="1585615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19" name="Shape 17"/>
          <p:cNvSpPr/>
          <p:nvPr/>
        </p:nvSpPr>
        <p:spPr>
          <a:xfrm>
            <a:off x="6095848" y="3027462"/>
            <a:ext cx="5486263" cy="12700"/>
          </a:xfrm>
          <a:prstGeom prst="rect">
            <a:avLst/>
          </a:prstGeom>
          <a:solidFill>
            <a:srgbClr val="2B3A80"/>
          </a:solidFill>
        </p:spPr>
      </p:sp>
      <p:sp>
        <p:nvSpPr>
          <p:cNvPr id="20" name="Rectangle 19"/>
          <p:cNvSpPr/>
          <p:nvPr/>
        </p:nvSpPr>
        <p:spPr>
          <a:xfrm>
            <a:off x="11018520" y="6568440"/>
            <a:ext cx="1137920" cy="238125"/>
          </a:xfrm>
          <a:prstGeom prst="rect">
            <a:avLst/>
          </a:prstGeom>
          <a:solidFill>
            <a:srgbClr val="0D174F"/>
          </a:solidFill>
          <a:ln>
            <a:solidFill>
              <a:srgbClr val="0D17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1580237"/>
            <a:ext cx="2795220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06 · 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2004569"/>
            <a:ext cx="10972526" cy="1144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 low-cost rover can serve the </a:t>
            </a:r>
            <a:r>
              <a:rPr lang="en-US" sz="4600" b="1" kern="100" spc="-138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next wave of growers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09585" y="3378200"/>
            <a:ext cx="711182" cy="31651"/>
          </a:xfrm>
          <a:prstGeom prst="roundRect">
            <a:avLst>
              <a:gd name="adj" fmla="val 49998"/>
            </a:avLst>
          </a:prstGeom>
          <a:solidFill>
            <a:srgbClr val="9BD33A"/>
          </a:solidFill>
        </p:spPr>
      </p:sp>
      <p:sp>
        <p:nvSpPr>
          <p:cNvPr id="5" name="Text 3"/>
          <p:cNvSpPr/>
          <p:nvPr/>
        </p:nvSpPr>
        <p:spPr>
          <a:xfrm>
            <a:off x="609585" y="3636962"/>
            <a:ext cx="345431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Target users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4204593"/>
            <a:ext cx="3454314" cy="11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Smallholder farmers, urban hydroponic setups, educational institutions, and automated greenhouses.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8691" y="3636962"/>
            <a:ext cx="345431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Value proposition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68691" y="4204593"/>
            <a:ext cx="3454314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An accessible entry point versus heavy industrial ag-tech equipment.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797" y="3636962"/>
            <a:ext cx="3454314" cy="377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Sustainability impact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7797" y="4204593"/>
            <a:ext cx="3454314" cy="11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Target-driven irrigation is designed to reduce water use by up to 30% and minimize chemical fertilizer runoff.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11018520" y="6568440"/>
            <a:ext cx="1137920" cy="238125"/>
          </a:xfrm>
          <a:prstGeom prst="rect">
            <a:avLst/>
          </a:prstGeom>
          <a:solidFill>
            <a:srgbClr val="0D174F"/>
          </a:solidFill>
          <a:ln>
            <a:solidFill>
              <a:srgbClr val="0D17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57999"/>
            <a:ext cx="2677748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07 · THE ROAD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From functional prototype to </a:t>
            </a:r>
            <a:r>
              <a:rPr lang="en-US" sz="3400" b="1" kern="100" spc="-85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cooperative farm pilots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705372"/>
            <a:ext cx="1097252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staged path from validated hardware to autonomous field operation and commercial pilot testing.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4319786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454F87"/>
          </a:solidFill>
        </p:spPr>
      </p:sp>
      <p:sp>
        <p:nvSpPr>
          <p:cNvPr id="6" name="Shape 4"/>
          <p:cNvSpPr/>
          <p:nvPr/>
        </p:nvSpPr>
        <p:spPr>
          <a:xfrm>
            <a:off x="3274931" y="3710186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</p:spPr>
      </p:sp>
      <p:sp>
        <p:nvSpPr>
          <p:cNvPr id="7" name="Shape 5"/>
          <p:cNvSpPr/>
          <p:nvPr/>
        </p:nvSpPr>
        <p:spPr>
          <a:xfrm>
            <a:off x="3060623" y="4091186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822" y="4164360"/>
            <a:ext cx="304792" cy="31085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kern="100" spc="-6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80" y="2515791"/>
            <a:ext cx="4952876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b="1" kern="100" spc="-45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Phase 1 — Current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780" y="2946202"/>
            <a:ext cx="4952876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Functional prototype built, edge AI vision trained, and localized irrigation verified.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1560" y="4319786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</p:spPr>
      </p:sp>
      <p:sp>
        <p:nvSpPr>
          <p:cNvPr id="12" name="Shape 10"/>
          <p:cNvSpPr/>
          <p:nvPr/>
        </p:nvSpPr>
        <p:spPr>
          <a:xfrm>
            <a:off x="5867253" y="4091186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451" y="4164360"/>
            <a:ext cx="304792" cy="31085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kern="100" spc="-6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9409" y="5132586"/>
            <a:ext cx="4952876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b="1" kern="100" spc="-45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Phase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9409" y="5562997"/>
            <a:ext cx="4952876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Autonomous pathfinding, GPS waypoint navigation, and long-range LoRa telemetry.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88190" y="3710186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</p:spPr>
      </p:sp>
      <p:sp>
        <p:nvSpPr>
          <p:cNvPr id="17" name="Shape 15"/>
          <p:cNvSpPr/>
          <p:nvPr/>
        </p:nvSpPr>
        <p:spPr>
          <a:xfrm>
            <a:off x="8673883" y="4091186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0081" y="4164360"/>
            <a:ext cx="304792" cy="31085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kern="100" spc="-6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26039" y="2515791"/>
            <a:ext cx="4952876" cy="308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b="1" kern="100" spc="-45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Phase 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26039" y="2946202"/>
            <a:ext cx="4952876" cy="56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Commercial pilot testing with local greenhouses and farm cooperative networks.</a:t>
            </a:r>
            <a:endParaRPr lang="en-US" sz="1600" dirty="0"/>
          </a:p>
        </p:txBody>
      </p:sp>
      <p:sp>
        <p:nvSpPr>
          <p:cNvPr id="21" name="Rectangle 20"/>
          <p:cNvSpPr/>
          <p:nvPr/>
        </p:nvSpPr>
        <p:spPr>
          <a:xfrm>
            <a:off x="11018520" y="6568440"/>
            <a:ext cx="1137920" cy="238125"/>
          </a:xfrm>
          <a:prstGeom prst="rect">
            <a:avLst/>
          </a:prstGeom>
          <a:solidFill>
            <a:srgbClr val="0D174F"/>
          </a:solidFill>
          <a:ln>
            <a:solidFill>
              <a:srgbClr val="0D17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2957</Words>
  <Application>WPS Presentation</Application>
  <PresentationFormat>On-screen Show (16:9)</PresentationFormat>
  <Paragraphs>155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Onest</vt:lpstr>
      <vt:lpstr>Onest</vt:lpstr>
      <vt:lpstr>Onest</vt:lpstr>
      <vt:lpstr>Familjen Grotesk Bold</vt:lpstr>
      <vt:lpstr>Familjen Grotesk Bold</vt:lpstr>
      <vt:lpstr>Familjen Grotesk Bold</vt:lpstr>
      <vt:lpstr>Onest SemiBold</vt:lpstr>
      <vt:lpstr>Onest SemiBold</vt:lpstr>
      <vt:lpstr>Onest SemiBold</vt:lpstr>
      <vt:lpstr>Onest Bold</vt:lpstr>
      <vt:lpstr>Onest Bold</vt:lpstr>
      <vt:lpstr>Onest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Kartik Darsh Gupta Dancer</cp:lastModifiedBy>
  <cp:revision>2</cp:revision>
  <dcterms:created xsi:type="dcterms:W3CDTF">2026-10-11T12:53:00Z</dcterms:created>
  <dcterms:modified xsi:type="dcterms:W3CDTF">2026-10-11T12:55:01Z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19A055440974485CB108D170883C9289_12</vt:lpwstr>
  </property>
  <property fmtid="{D5CDD505-2E9C-101B-9397-08002B2CF9AE}" pid="3" name="KSOProductBuildVer">
    <vt:lpwstr>1033-12.1.0.28485</vt:lpwstr>
  </property>
</Properties>
</file>